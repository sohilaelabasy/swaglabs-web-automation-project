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Swag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00B0F0"/>
                </a:solidFill>
                <a:latin typeface="Calibri"/>
              </a:rPr>
              <a:t>Web Automation Testing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37560"/>
            <a:ext cx="914400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DEEFF"/>
                </a:solidFill>
                <a:latin typeface="Calibri"/>
              </a:rPr>
              <a:t>Graduation Project  ·  ITI Egypt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Eng. Sohila El Abbasy   &amp;   Eng. Mahmoud Farid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95959"/>
                </a:solidFill>
                <a:latin typeface="Calibri"/>
              </a:rPr>
              <a:t>June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DEEFF"/>
                </a:solidFill>
                <a:latin typeface="Calibri"/>
              </a:rPr>
              <a:t>Information Technology Institute  (ITI)  ·  Software Testing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173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Project Overview &amp; Goals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5394960" cy="804672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231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539496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10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290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Architecture – Page Object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394960" cy="804672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5196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416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348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Project 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539496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5780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422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4406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Test Modules &amp; Coverage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234440"/>
            <a:ext cx="5394960" cy="804672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123444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1399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14173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CI/CD – GitHub Actions Pipeline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240280"/>
            <a:ext cx="539496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224028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24048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24231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Allure Report on GitHub Pages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246120"/>
            <a:ext cx="5394960" cy="804672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324612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59" y="3410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34290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Live Results &amp; Metrics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251960"/>
            <a:ext cx="5394960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425196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59" y="44165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59" y="44348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5257800"/>
            <a:ext cx="5394960" cy="804672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5257800"/>
            <a:ext cx="640080" cy="80467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59" y="5422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59" y="54406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Team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3035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  <a:latin typeface="Calibri"/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✔  End-to-end automated UI test suite for Swag Labs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✔  Covers the full e-commerce user journey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✔  25 automated test cases across 4 modules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✔  Runs on every Git push via GitHub Actions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FFFFFF"/>
                </a:solidFill>
                <a:latin typeface="Calibri"/>
              </a:rPr>
              <a:t>✔  Results published instantly to GitHub Pages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53035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  <a:latin typeface="Calibri"/>
              </a:rPr>
              <a:t>Target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DEEFF"/>
                </a:solidFill>
                <a:latin typeface="Calibri"/>
              </a:rPr>
              <a:t>🌐  https://www.saucedemo.com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286000"/>
            <a:ext cx="521208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450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3774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7249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Calibri"/>
              </a:rPr>
              <a:t>6 user types, 10 test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337560"/>
            <a:ext cx="521208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02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🛍️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429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Product Browsing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77647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Calibri"/>
              </a:rPr>
              <a:t>Inventory &amp; add-to-cart 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389120"/>
            <a:ext cx="521208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5537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48055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Cart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82803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Calibri"/>
              </a:rPr>
              <a:t>Add, remove, verify items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5440679"/>
            <a:ext cx="5212080" cy="868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605271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532119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Checkout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8795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Calibri"/>
              </a:rPr>
              <a:t>Full form validation + order 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1188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01168" cy="1188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Java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Programming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Core language for all test logic and page objects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5577840" cy="1188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201168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334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Maven 3.x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Build &amp; Dependency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73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Resolves dependencies, compiles, runs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577840" cy="1188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201168" cy="11887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050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Selenium 4.43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708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Browser 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451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Controls Chrome / Firefox / Edge via WebDriver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03520"/>
            <a:ext cx="5577840" cy="1188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201168" cy="118872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TestNG 7.12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424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Test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0167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Annotations, grouping, listeners, parallel runs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188720"/>
            <a:ext cx="5577840" cy="1188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188720"/>
            <a:ext cx="201168" cy="118872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12618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Allure 2.34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9019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Rich HTML reports with history &amp; trends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560320"/>
            <a:ext cx="5577840" cy="1188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560320"/>
            <a:ext cx="201168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6334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9992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CI/CD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273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Runs tests on every push to main/master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931920"/>
            <a:ext cx="5577840" cy="1188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931920"/>
            <a:ext cx="201168" cy="1188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GitHub Pages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3708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Report Hosting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6451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Publishes live Allure report on the web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303520"/>
            <a:ext cx="5577840" cy="1188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5303520"/>
            <a:ext cx="201168" cy="11887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3766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SLF4J + Logback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74243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Logging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60167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Structured logs for driver lifecycle &amp;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— Page Object Model (POM)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188720"/>
            <a:ext cx="9966960" cy="10515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188720"/>
            <a:ext cx="2103120" cy="10515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508760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5087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Calibri"/>
              </a:rPr>
              <a:t>LoginTest  ·  LandingPageTest  ·  CartPageTest  ·  CheckoutTest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0F0"/>
                </a:solidFill>
                <a:latin typeface="Calibri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651760"/>
            <a:ext cx="9966960" cy="10515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651760"/>
            <a:ext cx="2103120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971800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Page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9718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Calibri"/>
              </a:rPr>
              <a:t>LoginPage  ·  LandingPage  ·  CartPage  ·  Checkout  ·  CheckoutStepTwo  ·  CheckoutCompleted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6118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0F0"/>
                </a:solidFill>
                <a:latin typeface="Calibri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114800"/>
            <a:ext cx="9966960" cy="10515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114800"/>
            <a:ext cx="2103120" cy="10515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4434840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Utilities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434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Calibri"/>
              </a:rPr>
              <a:t>BaseTest  ·  DriverFactory  ·  SeleniumUtils  ·  Constants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50749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0F0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577840"/>
            <a:ext cx="9966960" cy="10515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5577840"/>
            <a:ext cx="2103120" cy="1051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897879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WebDriver /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89787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DEEFF"/>
                </a:solidFill>
                <a:latin typeface="Calibri"/>
              </a:rPr>
              <a:t>Chrome (headless in CI)   ·   Firefox   ·   Edge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188720"/>
            <a:ext cx="640080" cy="53949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" y="2468880"/>
            <a:ext cx="6035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0F0"/>
                </a:solidFill>
                <a:latin typeface="Calibri"/>
              </a:rPr>
              <a:t>P
O
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943600" cy="5486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</a:pPr>
            <a:r>
              <a:rPr sz="1200" b="1">
                <a:solidFill>
                  <a:srgbClr val="FFFFFF"/>
                </a:solidFill>
                <a:latin typeface="Courier New"/>
              </a:rPr>
              <a:t>swaglabs-web-automation-project/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0B0F0"/>
                </a:solidFill>
                <a:latin typeface="Courier New"/>
              </a:rPr>
              <a:t>├── .github/workflows/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DDEEFF"/>
                </a:solidFill>
                <a:latin typeface="Courier New"/>
              </a:rPr>
              <a:t>│   └── tests.yml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0B0F0"/>
                </a:solidFill>
                <a:latin typeface="Courier New"/>
              </a:rPr>
              <a:t>├── src/main/java/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DDEEFF"/>
                </a:solidFill>
                <a:latin typeface="Courier New"/>
              </a:rPr>
              <a:t>│   ├── pages/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95959"/>
                </a:solidFill>
                <a:latin typeface="Consolas"/>
              </a:rPr>
              <a:t>│   │   ├── LoginPage.java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95959"/>
                </a:solidFill>
                <a:latin typeface="Consolas"/>
              </a:rPr>
              <a:t>│   │   ├── LandingPage.java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95959"/>
                </a:solidFill>
                <a:latin typeface="Consolas"/>
              </a:rPr>
              <a:t>│   │   ├── CartPage.java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95959"/>
                </a:solidFill>
                <a:latin typeface="Consolas"/>
              </a:rPr>
              <a:t>│   │   ├── Checkout.java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95959"/>
                </a:solidFill>
                <a:latin typeface="Consolas"/>
              </a:rPr>
              <a:t>│   │   ├── CheckoutStepTwo.java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95959"/>
                </a:solidFill>
                <a:latin typeface="Consolas"/>
              </a:rPr>
              <a:t>│   │   └── CheckoutCompleted.java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DDEEFF"/>
                </a:solidFill>
                <a:latin typeface="Courier New"/>
              </a:rPr>
              <a:t>│   └── utilities/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95959"/>
                </a:solidFill>
                <a:latin typeface="Consolas"/>
              </a:rPr>
              <a:t>│       ├── DriverFactory.java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95959"/>
                </a:solidFill>
                <a:latin typeface="Consolas"/>
              </a:rPr>
              <a:t>│       ├── SeleniumUtils.java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595959"/>
                </a:solidFill>
                <a:latin typeface="Consolas"/>
              </a:rPr>
              <a:t>│       └── Constants.java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00B0F0"/>
                </a:solidFill>
                <a:latin typeface="Courier New"/>
              </a:rPr>
              <a:t>├── src/test/java/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DDEEFF"/>
                </a:solidFill>
                <a:latin typeface="Courier New"/>
              </a:rPr>
              <a:t>│   ├── testcases/  (5 classes)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DDEEFF"/>
                </a:solidFill>
                <a:latin typeface="Courier New"/>
              </a:rPr>
              <a:t>│   └── listeners/  (3 classes)</a:t>
            </a:r>
          </a:p>
          <a:p>
            <a:pPr>
              <a:spcBef>
                <a:spcPts val="100"/>
              </a:spcBef>
            </a:pPr>
            <a:r>
              <a:rPr sz="1100" b="1">
                <a:solidFill>
                  <a:srgbClr val="DDEEFF"/>
                </a:solidFill>
                <a:latin typeface="Courier New"/>
              </a:rPr>
              <a:t>└── pom.xml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143000"/>
            <a:ext cx="5394960" cy="548640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  <a:latin typeface="Calibri"/>
              </a:rPr>
              <a:t>Key Design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691640"/>
            <a:ext cx="516636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7647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DriverFactory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12264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Singleton pattern — one driver
per test; auto-resolves browser
from system property or env var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953512"/>
            <a:ext cx="516636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0266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BaseTest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374136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@BeforeMethod opens browser
@AfterMethod quits driver
Shared across all test classes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4215383"/>
            <a:ext cx="516636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28853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Constants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636007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Centralised URLs, credentials
and checkout data — no magic
strings in test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5477256"/>
            <a:ext cx="516636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55504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Listeners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897880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AllureReportListener captures
screenshots &amp; test metadata
automatically on failure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Test Modules &amp; Coverage  —  25 Test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669280" cy="26517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435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🔐 Login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2435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Calibri"/>
              </a:rPr>
              <a:t>10 TCs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Valid login (standard_user)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Locked-out user error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Invalid username / password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Empty username / password / both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problem_user &amp; performance_glitch_user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Page title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669280" cy="26517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435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🛍️ Landing Page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124358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Calibri"/>
              </a:rPr>
              <a:t>3 TCs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19072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Add to cart → badge count +1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Remove from cart → badge count −1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Cart icon → navigates to cart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39"/>
            <a:ext cx="5669280" cy="26517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977639"/>
            <a:ext cx="5669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03250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🛒 Cart Module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3250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Calibri"/>
              </a:rPr>
              <a:t>4 TCs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07992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Added product visible in cart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Remove product → count = 0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Removed product not in list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Checkout button → step-one URL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977639"/>
            <a:ext cx="5669280" cy="26517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977639"/>
            <a:ext cx="5669280" cy="4572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32503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💳 Checkout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403250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Calibri"/>
              </a:rPr>
              <a:t>8 TCs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507992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Valid info → step two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Missing first / last name / postal code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All fields empty error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✔ Combined field-missing scenarios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DDEEFF"/>
                </a:solidFill>
                <a:latin typeface="Calibri"/>
              </a:rPr>
              <a:t>  🔥 SMOKE: full order completion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CI/CD Pipeline — GitHub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325880" cy="1417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325880"/>
            <a:ext cx="1234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
Checkout
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834640"/>
            <a:ext cx="1325880" cy="9601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2880360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  <a:latin typeface="Calibri"/>
              </a:rPr>
              <a:t>actions/checkout@v4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6916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0F0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1280160"/>
            <a:ext cx="13258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325880"/>
            <a:ext cx="1234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
Setup
JDK 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2834640"/>
            <a:ext cx="1325880" cy="9601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880360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  <a:latin typeface="Calibri"/>
              </a:rPr>
              <a:t>Temurin + Maven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16916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0F0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280160"/>
            <a:ext cx="1325880" cy="141732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325880"/>
            <a:ext cx="1234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
Setup
Chrome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834640"/>
            <a:ext cx="1325880" cy="9601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880360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  <a:latin typeface="Calibri"/>
              </a:rPr>
              <a:t>Stable channel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16916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0F0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280160"/>
            <a:ext cx="1325880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325880"/>
            <a:ext cx="1234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
Run
TestNG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2834640"/>
            <a:ext cx="1325880" cy="9601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880360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  <a:latin typeface="Calibri"/>
              </a:rPr>
              <a:t>mvn clean test
-Dbrowser=chrome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7608" y="16916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0F0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280160"/>
            <a:ext cx="1325880" cy="1417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325880"/>
            <a:ext cx="1234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
Restore
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834640"/>
            <a:ext cx="1325880" cy="9601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880360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  <a:latin typeface="Calibri"/>
              </a:rPr>
              <a:t>gh-pages branch
trend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16916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0F0"/>
                </a:solidFill>
                <a:latin typeface="Calibri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1280160"/>
            <a:ext cx="1325880" cy="141732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1325880"/>
            <a:ext cx="1234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
Install
Allure CLI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2834640"/>
            <a:ext cx="1325880" cy="9601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2880360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  <a:latin typeface="Calibri"/>
              </a:rPr>
              <a:t>npm install -g
allure-commandline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16916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0F0"/>
                </a:solidFill>
                <a:latin typeface="Calibri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1280160"/>
            <a:ext cx="1325880" cy="1417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1325880"/>
            <a:ext cx="1234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
Generate
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2834640"/>
            <a:ext cx="1325880" cy="9601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2880360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  <a:latin typeface="Calibri"/>
              </a:rPr>
              <a:t>allure generate
allure-results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96728" y="1691640"/>
            <a:ext cx="228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0F0"/>
                </a:solidFill>
                <a:latin typeface="Calibri"/>
              </a:rPr>
              <a:t>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61320" y="1280160"/>
            <a:ext cx="1325880" cy="1417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40" y="1325880"/>
            <a:ext cx="12344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
Publish to
GH Pages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61320" y="2834640"/>
            <a:ext cx="1325880" cy="9601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07040" y="2880360"/>
            <a:ext cx="1234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EFF"/>
                </a:solidFill>
                <a:latin typeface="Calibri"/>
              </a:rPr>
              <a:t>peaceiris/
actions-gh-pages@v4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069080"/>
            <a:ext cx="11521440" cy="68580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F0"/>
                </a:solidFill>
                <a:latin typeface="Calibri"/>
              </a:rPr>
              <a:t>⚡  Trigger: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3080" y="4160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Push or Pull Request to  main / master  branch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16052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F0"/>
                </a:solidFill>
                <a:latin typeface="Calibri"/>
              </a:rPr>
              <a:t>📄  Output: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41605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Live Allure report published at  sohilaelabasy.github.io/…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937760"/>
            <a:ext cx="11521440" cy="1600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983480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DCFE"/>
                </a:solidFill>
                <a:latin typeface="Calibri"/>
              </a:rPr>
              <a:t>on:
  push:
    branches: [ main, master ]
  pull_request:
    branches: [ main, master ]
  workflow_dispatch: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983480"/>
            <a:ext cx="5669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E9178"/>
                </a:solidFill>
                <a:latin typeface="Calibri"/>
              </a:rPr>
              <a:t>      - name: Run TestNG suite (Chrome)
        run: mvn -B clean test -Dbrowser=chrome
               -Dmaven.test.failure.ignore=true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Allure Report on GitHub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303520" cy="53949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  <a:latin typeface="Calibri"/>
              </a:rPr>
              <a:t>What the Report Shows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0292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Summary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Pass / Fail / Broken / Skipped counts at a glance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50292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97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0603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History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79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Pass-rate trend across every CI run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50292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8327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Test Case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Steps, parameters, attachments per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50292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🏷️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605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Behaviours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Tests grouped by Feature &amp; 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50292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59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Suites &amp; Packages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578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Java package / class hierarchy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9280"/>
            <a:ext cx="502920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806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7150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Duration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Slowest tests and timeline 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188720"/>
            <a:ext cx="5943600" cy="53949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1280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  <a:latin typeface="Calibri"/>
              </a:rPr>
              <a:t>How It's Deployed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1828800"/>
            <a:ext cx="566928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80760" y="1828800"/>
            <a:ext cx="73152" cy="7132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199339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0F0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9933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Tests produce allure-results/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697480"/>
            <a:ext cx="566928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2697480"/>
            <a:ext cx="73152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2" y="286207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28620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CI fetches history from gh-pages branch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566160"/>
            <a:ext cx="566928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80760" y="3566160"/>
            <a:ext cx="73152" cy="71323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373075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0AD47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7307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allure generate → HTML in allure-report/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4434840"/>
            <a:ext cx="566928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0760" y="4434840"/>
            <a:ext cx="73152" cy="7132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2" y="4599431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7D31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4599431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peaceiris/actions-gh-pages pushes to gh-pages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5303520"/>
            <a:ext cx="566928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80760" y="5303520"/>
            <a:ext cx="73152" cy="713232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9632" y="5468112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E24AA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681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GitHub Pages serves the live report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6217920"/>
            <a:ext cx="5669280" cy="274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0" y="6236208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0F0"/>
                </a:solidFill>
                <a:latin typeface="Calibri"/>
              </a:rPr>
              <a:t>🔗  sohilaelabasy.github.io/swaglabs-web-automation-project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Results &amp;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148840" cy="13716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61872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933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Total Test Cases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2" y="1188720"/>
            <a:ext cx="2148840" cy="1371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1261872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19933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Modules Covered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8344" y="1188720"/>
            <a:ext cx="2148840" cy="1371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9783" y="1261872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3" y="19933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Browsers Supported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97496" y="1188720"/>
            <a:ext cx="2148840" cy="1371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8936" y="1261872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936" y="19933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CI Pipeline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56648" y="1188720"/>
            <a:ext cx="2148840" cy="13716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8" y="1261872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1993392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Automation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88920"/>
            <a:ext cx="5669280" cy="35661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Calibri"/>
              </a:rPr>
              <a:t>Test Type Distribution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01568"/>
            <a:ext cx="530352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844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  <a:latin typeface="Calibri"/>
              </a:rPr>
              <a:t>Positive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602736"/>
            <a:ext cx="1528876" cy="32918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34916" y="35844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11 TCs  (44%)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70248"/>
            <a:ext cx="530352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531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Negative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4471416"/>
            <a:ext cx="1806854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2894" y="44531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13 TCs  (52%)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38928"/>
            <a:ext cx="530352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218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00"/>
                </a:solidFill>
                <a:latin typeface="Calibri"/>
              </a:rPr>
              <a:t>Smoke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5340096"/>
            <a:ext cx="138988" cy="32918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5028" y="53218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 TCs  (4%)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788920"/>
            <a:ext cx="5577840" cy="356616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880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  <a:latin typeface="Calibri"/>
              </a:rPr>
              <a:t>Priority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401568"/>
            <a:ext cx="521208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5844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3602736"/>
            <a:ext cx="2106777" cy="32918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4937" y="3584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16 TCs  (64%)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270248"/>
            <a:ext cx="521208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4531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4471416"/>
            <a:ext cx="1053388" cy="3291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91548" y="445312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8 TCs  (32%)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5138928"/>
            <a:ext cx="5212080" cy="7132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53218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AD47"/>
                </a:solidFill>
                <a:latin typeface="Calibri"/>
              </a:rPr>
              <a:t>Low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5340096"/>
            <a:ext cx="131673" cy="32918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69833" y="53218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 TCs  (4%)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Sample Code — Page Object &amp; Test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577840" cy="5486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LoginPage.java  (Page Object)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27632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A"/>
                </a:solidFill>
                <a:latin typeface="Calibri"/>
              </a:rPr>
              <a:t>public class LoginPage {
  private final By userName =
      By.id("user-name");
  private final By password =
      By.id("password");
  private final By loginButton =
      By.id("login-button");
  public LandingPage login(
      String user, String pass) {
    SeleniumUtils.type(driver,
        userName, user);
    SeleniumUtils.type(driver,
        password, pass);
    SeleniumUtils.click(driver,
        loginButton);
    return new LandingPage(driver);
  }
}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23560" cy="5486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F0"/>
                </a:solidFill>
                <a:latin typeface="Calibri"/>
              </a:rPr>
              <a:t>LoginTest.java  (Test Case)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27632"/>
            <a:ext cx="5440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ED4DA"/>
                </a:solidFill>
                <a:latin typeface="Calibri"/>
              </a:rPr>
              <a:t>public class LoginTest extends BaseTest {
  LoginPage loginPage;
  @BeforeMethod
  public void setupPage(){
    loginPage = new LoginPage(driver);
  }
  @Test
  public void validLogin(){
    loginPage.login(
        "standard_user","secret_sauce");
    Assert.assertTrue(
        driver.getCurrentUrl()
              .contains("inventory"));
  }
  @Test
  public void lockedOutUserLogin(){
    loginPage.login(
        "locked_out_user","secret_sauce");
    Assert.assertTrue(
        loginPage.getErrorMessage()
          .contains("locked out"));
  }
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669280" cy="251460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6692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43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🔴  Driver Lifecycle in Parallel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7A"/>
                </a:solidFill>
                <a:latin typeface="Calibri"/>
              </a:rPr>
              <a:t>⚠ DriverFactory used a single static instance causing cross-test contamination.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68F"/>
                </a:solidFill>
                <a:latin typeface="Calibri"/>
              </a:rPr>
              <a:t>✅  @AfterMethod calls DriverFactory.quitDriver() to null the instance, guaranteeing a fresh driver per test method.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669280" cy="251460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66928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2435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🟠  Headless Chrome on Ubuntu (CI)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7A"/>
                </a:solidFill>
                <a:latin typeface="Calibri"/>
              </a:rPr>
              <a:t>⚠ Chrome required --headless flag and disabled password-manager prefs in CI.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68F"/>
                </a:solidFill>
                <a:latin typeface="Calibri"/>
              </a:rPr>
              <a:t>✅  ChromeOptions configured once in DriverFactory with the correct flags; CI environment is transparent to tests.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31920"/>
            <a:ext cx="5669280" cy="251460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931920"/>
            <a:ext cx="566928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986783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🔵  Allure History Trend in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0740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7A"/>
                </a:solidFill>
                <a:latin typeface="Calibri"/>
              </a:rPr>
              <a:t>⚠ GitHub Actions starts fresh each run — history JSON was lost between runs.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578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68F"/>
                </a:solidFill>
                <a:latin typeface="Calibri"/>
              </a:rPr>
              <a:t>✅  Workflow checks out the gh-pages branch first and copies the history/ folder into allure-results/ before report generation.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31920"/>
            <a:ext cx="5669280" cy="251460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931920"/>
            <a:ext cx="566928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986783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🟢  Flaky Waits on Checkout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07408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07A"/>
                </a:solidFill>
                <a:latin typeface="Calibri"/>
              </a:rPr>
              <a:t>⚠ Checkout step-two URL was checked before navigation completed, causing assertion failures.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578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9D68F"/>
                </a:solidFill>
                <a:latin typeface="Calibri"/>
              </a:rPr>
              <a:t>✅  Replaced implicit sleeps with SeleniumUtils.wait(driver).until(ExpectedConditions.urlContains(…)) throughout.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2331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716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  <a:latin typeface="Calibri"/>
              </a:rPr>
              <a:t>Design Patterns Matter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POM separates UI selectors from test logic — a single locator change only affects one Page class, not dozens of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234440"/>
            <a:ext cx="3749039" cy="2331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441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3716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  <a:latin typeface="Calibri"/>
              </a:rPr>
              <a:t>CI/CD as a Safety 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47672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Automated pipeline catches regressions immediately after every push, reducing manual oversight.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234440"/>
            <a:ext cx="3749039" cy="2331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441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3716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  <a:latin typeface="Calibri"/>
              </a:rPr>
              <a:t>Visibility Through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47672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Allure trends reveal flaky tests and regressions across runs — essential for long-term quality tracking.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3749039" cy="2331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04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319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  <a:latin typeface="Calibri"/>
              </a:rPr>
              <a:t>Explicit Waits are Non-Negotiable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07992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Replacing all Thread.sleep() with ExpectedConditions eliminated the majority of intermittent failures.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3794760"/>
            <a:ext cx="3749039" cy="2331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904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9319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  <a:latin typeface="Calibri"/>
              </a:rPr>
              <a:t>Centralise Everything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507992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Constants enum for URLs, credentials and data prevents typos and makes environment changes a one-line update.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9" y="3794760"/>
            <a:ext cx="3749039" cy="2331720"/>
          </a:xfrm>
          <a:prstGeom prst="rect">
            <a:avLst/>
          </a:prstGeom>
          <a:solidFill>
            <a:srgbClr val="17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904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9319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F0"/>
                </a:solidFill>
                <a:latin typeface="Calibri"/>
              </a:rPr>
              <a:t>Team Collaboration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07992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  <a:latin typeface="Calibri"/>
              </a:rPr>
              <a:t>Clear class ownership (pages vs. tests vs. utilities) let both engineers work in parallel without conflicts.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772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41732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DEEFF"/>
                </a:solidFill>
                <a:latin typeface="Calibri"/>
              </a:rPr>
              <a:t>Graduation Project  ·  ITI Egypt  ·  Software Testing Track</a:t>
            </a:r>
          </a:p>
        </p:txBody>
      </p:sp>
      <p:sp>
        <p:nvSpPr>
          <p:cNvPr id="7" name="Oval 6"/>
          <p:cNvSpPr/>
          <p:nvPr/>
        </p:nvSpPr>
        <p:spPr>
          <a:xfrm>
            <a:off x="2377440" y="2011680"/>
            <a:ext cx="1645920" cy="164592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3200">
                <a:solidFill>
                  <a:srgbClr val="FFFFFF"/>
                </a:solidFill>
                <a:latin typeface="Calibri"/>
              </a:rPr>
              <a:t>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22191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Eng. Sohila
El Abbasy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90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B0F0"/>
                </a:solidFill>
                <a:latin typeface="Calibri"/>
              </a:rPr>
              <a:t>QA Automation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50292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DEEFF"/>
                </a:solidFill>
                <a:latin typeface="Calibri"/>
              </a:rPr>
              <a:t>▸  Checkout module design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DEEFF"/>
                </a:solidFill>
                <a:latin typeface="Calibri"/>
              </a:rPr>
              <a:t>▸  Test listeners &amp; Allure integration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DEEFF"/>
                </a:solidFill>
                <a:latin typeface="Calibri"/>
              </a:rPr>
              <a:t>▸  CI/CD workflow setup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DEEFF"/>
                </a:solidFill>
                <a:latin typeface="Calibri"/>
              </a:rPr>
              <a:t>▸  GitHub Pages configuration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0" y="2011680"/>
            <a:ext cx="1645920" cy="164592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3200">
                <a:solidFill>
                  <a:srgbClr val="FFFFFF"/>
                </a:solidFill>
                <a:latin typeface="Calibri"/>
              </a:rPr>
              <a:t>MF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822191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Eng. Mahmoud
Farid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590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B0F0"/>
                </a:solidFill>
                <a:latin typeface="Calibri"/>
              </a:rPr>
              <a:t>QA Automation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50292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DEEFF"/>
                </a:solidFill>
                <a:latin typeface="Calibri"/>
              </a:rPr>
              <a:t>▸  Login &amp; Landing Page modules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DEEFF"/>
                </a:solidFill>
                <a:latin typeface="Calibri"/>
              </a:rPr>
              <a:t>▸  Cart module test cases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DEEFF"/>
                </a:solidFill>
                <a:latin typeface="Calibri"/>
              </a:rPr>
              <a:t>▸  DriverFactory &amp; BaseTest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DEEFF"/>
                </a:solidFill>
                <a:latin typeface="Calibri"/>
              </a:rPr>
              <a:t>▸  Constants &amp; SeleniumUtils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6373368"/>
            <a:ext cx="1218895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Information Technology Institute  (ITI)  ·  Egypt  ·  June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58600" y="0"/>
            <a:ext cx="45720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85448" y="0"/>
            <a:ext cx="73152" cy="685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00B0F0"/>
                </a:solidFill>
                <a:latin typeface="Calibri"/>
              </a:rPr>
              <a:t>Q  &amp;  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749039"/>
            <a:ext cx="7616952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9776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  <a:latin typeface="Calibri"/>
              </a:rPr>
              <a:t>📁 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9776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DEEFF"/>
                </a:solidFill>
                <a:latin typeface="Calibri"/>
              </a:rPr>
              <a:t>github.com/sohilaelabasy/swaglabs-web-automation-project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663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0"/>
                </a:solidFill>
                <a:latin typeface="Calibri"/>
              </a:rPr>
              <a:t>📊  Live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663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DEEFF"/>
                </a:solidFill>
                <a:latin typeface="Calibri"/>
              </a:rPr>
              <a:t>sohilaelabasy.github.io/swaglabs-web-automation-project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Eng. Sohila El Abbasy   ·   Eng. Mahmoud Farid   ·   ITI Egypt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